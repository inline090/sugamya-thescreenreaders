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0:00–0:25. We are building for the people who operate sites, not asking disabled citizens to install another tool. Our narrow proof is a reviewed response-level repair that reaches a clean public browser. All numbers are our owned fixtures, not customer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0:25–0:50. We preserve the submitted problem and target operator. Infrastructure staff must control a hostname/routing layer or obtain an owner-installed integration. Without that authority Sugamya cannot modify an arbitrary website. This is why IT Infrastructure is the selected current portal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0:50–1:20. GitHub already offers strong contextual code-based remediation and alt-text work; AudioEye already reaches ordinary visitors through runtime changes. We read the official scanner/plugin code and do not assert missing competitor features where unverified. Our deliverable is a narrow OSS operational delivery pattern with an inspectable proof. No superiority benchmark against these vendors was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1:20–1:50. A reverse proxy was selected because no domain/Worker credentials were available. It does not inject generated JavaScript. ID-only operations check exact content and attributes; mismatches preserve original HTML. A Quick Tunnel makes the actual route publicly accessible for this demonstration. Contrast needs a suitable existing class; we disclose that precondition, not claim universal styling repairs.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1:50–2:15. The W3C-derived 55 is WCAG 2.2 A/AA. Tool coverage is method dependent; we did not inherit an unverified fixed 20 manual number. The image description is lower confidence than the task-blocking required field and submit action. The unsupported/unresolved list remains a manual-review queue, not a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2:15–2:45. Optional remote processing requires a preview and per-request payload consent. The real model output is retained. The owner explicitly confirmed the three exact meanings through Arena; engineering transmitted that decision through the approver role. The independent task checker cannot establish image meaning; an automated pass never overrides unresolved semantics. Groq retention exceptions are disclosed.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2:45–3:15. We observed four seeded axe violation instances before and zero after, then used the same accessible-name and keyboard task method for three trials per state. All before attempts blocked; all after attempts completed. Public proof checks the actual HTTPS route from a new browser with no session or extension. This is engineering task evidence, not measured disabled-user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3:15–3:45. The video negative case uses an explicitly labeled engineering fixture, not fabricated human approval. Actual non-promotion is measured by unchanged visitor response. A separate stale-page test causes real rollback and emergency disable restores original HTML. Security release is narrow: fixed authorized origins, role-gated decisions, no generated code, scoped evidence, bounded requests, hash-chained history; no perfect-security or multi-tenant production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3:45–4:15. The measured median overhead is local paired request latency, not a geographic production benchmark. The rupee calculation is a transparent forecast with explicit times/rate and sensitivity. No timed operator study was conducted, so we do not claim measured time savings. Reuse is real on a second configuration of the same form shape, not a claim that all sites adapt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4:15–5:00. Close on the central answer: source sharing is unnecessary if an authorized owner can route visitor responses through a tightly controlled layer. If no owner control exists, this system cannot modify the website. Ask judges to inspect the actual manifest, public response, human decision, failed canary and hash-chain replay. Transition to the five-minute live demo; recording is explicitly labeled fallback evidence, never passed off as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directly and point to evidence/limitations. Do not extrapolate fixture numbers or competitor marketing claims into customer outcomes. Do not promise to fix signed-in or arbitrary SPA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Fallback: say “This is a recording from the tested implementation” and play the MP4. Never narrate a cached action as a live deployment. The receipt and final commit SHA are supplied separately after portal save, avoiding a circular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blog/ai-and-ml/github-copilot/building-a-general-purpose-accessibility-agent-and-what-we-learned-in-the-process/" TargetMode="External"/><Relationship Id="rId3" Type="http://schemas.openxmlformats.org/officeDocument/2006/relationships/hyperlink" Target="https://www.audioeye.com/post/how-audioeyes-accessibility-technology-works/" TargetMode="External"/><Relationship Id="rId4" Type="http://schemas.openxmlformats.org/officeDocument/2006/relationships/hyperlink" Target="https://github.com/shivanshjain456/Sugamya-TheScreenReaders/blob/main/docs/COMPETITIVE-EVIDENCE.md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w3.org/WAI/test-evaluate/tools/selecting/" TargetMode="Externa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freight-galleries-feels-messenger.trycloudflare.com/apply" TargetMode="Externa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hivanshjain456/Sugamya-TheScreenReaders" TargetMode="Externa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hivanshjain456/Sugamya-TheScreenReaders/blob/main/README.md" TargetMode="Externa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36E"/>
                </a:solidFill>
                <a:latin typeface="Arial"/>
              </a:defRPr>
            </a:pPr>
            <a:r>
              <a:t>Sugamya / 01 / Operator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7242C"/>
                </a:solidFill>
                <a:latin typeface="Arial"/>
              </a:defRPr>
            </a:pPr>
            <a:r>
              <a:t>Verified repair is not finished until visitors receive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3636E"/>
                </a:solidFill>
                <a:latin typeface="Arial"/>
              </a:defRPr>
            </a:pPr>
            <a:r>
              <a:t>Sugamya: A Self-Verifying AI Agent That Fixes Web Accessibility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36E"/>
                </a:solidFill>
                <a:latin typeface="Arial"/>
              </a:defRPr>
            </a:pPr>
            <a:r>
              <a:t>The Screen Readers · HX-P3JQ · AgentOps’26 · IT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40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000"/>
              </a:spcAft>
              <a:defRPr sz="1100" b="0">
                <a:solidFill>
                  <a:srgbClr val="53636E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17242C"/>
                </a:solidFill>
                <a:latin typeface="Arial"/>
              </a:defRPr>
            </a:pPr>
            <a:r>
              <a:t>An owner-controlled accessibility repair control plane.</a:t>
            </a:r>
          </a:p>
          <a:p>
            <a:pPr>
              <a:spcAft>
                <a:spcPts val="1000"/>
              </a:spcAft>
              <a:defRPr sz="2500" b="1">
                <a:solidFill>
                  <a:srgbClr val="17242C"/>
                </a:solidFill>
                <a:latin typeface="Arial"/>
              </a:defRPr>
            </a:pPr>
            <a:r>
              <a:t>No target source patch. No visitor extension.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0">
                <a:solidFill>
                  <a:srgbClr val="1D5FBF"/>
                </a:solidFill>
                <a:latin typeface="Arial"/>
              </a:defRPr>
            </a:pPr>
            <a:r>
              <a:t>4 →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7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42C"/>
                </a:solidFill>
                <a:latin typeface="Arial"/>
              </a:defRPr>
            </a:pPr>
            <a:r>
              <a:t>Seeded axe instances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578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3636E"/>
                </a:solidFill>
                <a:latin typeface="Arial"/>
              </a:defRPr>
            </a:pPr>
            <a:r>
              <a:t>One owned public fixture; not conformance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97763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0">
                <a:solidFill>
                  <a:srgbClr val="1D5FBF"/>
                </a:solidFill>
                <a:latin typeface="Arial"/>
              </a:defRPr>
            </a:pPr>
            <a:r>
              <a:t>0/3 → 3/3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75487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42C"/>
                </a:solidFill>
                <a:latin typeface="Arial"/>
              </a:defRPr>
            </a:pPr>
            <a:r>
              <a:t>Automated service-task trials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52578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3636E"/>
                </a:solidFill>
                <a:latin typeface="Arial"/>
              </a:defRPr>
            </a:pPr>
            <a:r>
              <a:t>Same accessible-name + keyboard 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97763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0">
                <a:solidFill>
                  <a:srgbClr val="1D5FBF"/>
                </a:solidFill>
                <a:latin typeface="Arial"/>
              </a:defRPr>
            </a:pPr>
            <a:r>
              <a:t>11 /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75487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42C"/>
                </a:solidFill>
                <a:latin typeface="Arial"/>
              </a:defRPr>
            </a:pPr>
            <a:r>
              <a:t>Public visitor gates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2578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3636E"/>
                </a:solidFill>
                <a:latin typeface="Arial"/>
              </a:defRPr>
            </a:pPr>
            <a:r>
              <a:t>Fresh browser, anonymous HTTPS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36E"/>
                </a:solidFill>
                <a:latin typeface="Arial"/>
              </a:defRPr>
            </a:pPr>
            <a:r>
              <a:t>Sugamya / 02 / Buyer and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7242C"/>
                </a:solidFill>
                <a:latin typeface="Arial"/>
              </a:defRPr>
            </a:pPr>
            <a:r>
              <a:t>The bottleneck is safe delivery, not another list of issues.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3636E"/>
                </a:solidFill>
                <a:latin typeface="Arial"/>
              </a:defRPr>
            </a:pPr>
            <a:r>
              <a:t>A scanner or a patch on a copy does not change what an ordinary citizen receives.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36E"/>
                </a:solidFill>
                <a:latin typeface="Arial"/>
              </a:defRPr>
            </a:pPr>
            <a:r>
              <a:t>The Screen Readers · HX-P3JQ · AgentOps’26 · IT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40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000"/>
              </a:spcAft>
              <a:defRPr sz="1100" b="0">
                <a:solidFill>
                  <a:srgbClr val="53636E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D5FBF"/>
                </a:solidFill>
                <a:latin typeface="Arial"/>
              </a:defRPr>
            </a:pPr>
            <a:r>
              <a:t>Purchaser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37744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42C"/>
                </a:solidFill>
                <a:latin typeface="Arial"/>
              </a:defRPr>
            </a:pPr>
            <a:r>
              <a:t>Service-owning agency or managed-service 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D5FBF"/>
                </a:solidFill>
                <a:latin typeface="Arial"/>
              </a:defRPr>
            </a:pPr>
            <a:r>
              <a:t>Operator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10896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42C"/>
                </a:solidFill>
                <a:latin typeface="Arial"/>
              </a:defRPr>
            </a:pPr>
            <a:r>
              <a:t>Small web operations / infrastructure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D5FBF"/>
                </a:solidFill>
                <a:latin typeface="Arial"/>
              </a:defRPr>
            </a:pPr>
            <a:r>
              <a:t>Approver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84048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42C"/>
                </a:solidFill>
                <a:latin typeface="Arial"/>
              </a:defRPr>
            </a:pPr>
            <a:r>
              <a:t>Accessibility or content owner; decides meaning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720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D5FBF"/>
                </a:solidFill>
                <a:latin typeface="Arial"/>
              </a:defRPr>
            </a:pPr>
            <a:r>
              <a:t>Visitor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720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42C"/>
                </a:solidFill>
                <a:latin typeface="Arial"/>
              </a:defRPr>
            </a:pPr>
            <a:r>
              <a:t>Uses the service normally; installs nothing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784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42C"/>
                </a:solidFill>
                <a:latin typeface="Arial"/>
              </a:defRPr>
            </a:pPr>
            <a:r>
              <a:t>Required authority: control the origin installation and visitor routing—not access to application 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36E"/>
                </a:solidFill>
                <a:latin typeface="Arial"/>
              </a:defRPr>
            </a:pPr>
            <a:r>
              <a:t>Sugamya / 03 /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7242C"/>
                </a:solidFill>
                <a:latin typeface="Arial"/>
              </a:defRPr>
            </a:pPr>
            <a:r>
              <a:t>We are not claiming the first accessibility agent.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3636E"/>
                </a:solidFill>
                <a:latin typeface="Arial"/>
              </a:defRPr>
            </a:pPr>
            <a:r>
              <a:t>The differentiated proof is the bounded change-control loop, not AI, PRs, alt text, or runtime repair alone.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36E"/>
                </a:solidFill>
                <a:latin typeface="Arial"/>
              </a:defRPr>
            </a:pPr>
            <a:r>
              <a:t>The Screen Readers · HX-P3JQ · AgentOps’26 · IT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40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000"/>
              </a:spcAft>
              <a:defRPr sz="1100" b="0">
                <a:solidFill>
                  <a:srgbClr val="53636E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42C"/>
                </a:solidFill>
                <a:latin typeface="Arial"/>
              </a:defRPr>
            </a:pPr>
            <a:r>
              <a:t>GitHub agent / Scanner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377440"/>
            <a:ext cx="7909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3636E"/>
                </a:solidFill>
                <a:latin typeface="Arial"/>
              </a:defRPr>
            </a:pPr>
            <a:r>
              <a:t>Objective code remediation, issues, Copilot PR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42C"/>
                </a:solidFill>
                <a:latin typeface="Arial"/>
              </a:defRPr>
            </a:pPr>
            <a:r>
              <a:t>GitHub alt-text plugin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971800"/>
            <a:ext cx="7909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3636E"/>
                </a:solidFill>
                <a:latin typeface="Arial"/>
              </a:defRPr>
            </a:pPr>
            <a:r>
              <a:t>Deterministic quality rules + opt-in image/context model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6616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42C"/>
                </a:solidFill>
                <a:latin typeface="Arial"/>
              </a:defRPr>
            </a:pPr>
            <a:r>
              <a:t>AudioEye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566160"/>
            <a:ext cx="7909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3636E"/>
                </a:solidFill>
                <a:latin typeface="Arial"/>
              </a:defRPr>
            </a:pPr>
            <a:r>
              <a:t>Site-installed runtime fixes plus expert/custom remediation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6052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42C"/>
                </a:solidFill>
                <a:latin typeface="Arial"/>
              </a:defRPr>
            </a:pPr>
            <a:r>
              <a:t>axe / enterprise platforms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160520"/>
            <a:ext cx="7909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3636E"/>
                </a:solidFill>
                <a:latin typeface="Arial"/>
              </a:defRPr>
            </a:pPr>
            <a:r>
              <a:t>Strong automated evidence, guided tests and governance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02920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2120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D5FBF"/>
                </a:solidFill>
                <a:latin typeface="Arial"/>
              </a:defRPr>
            </a:pPr>
            <a:r>
              <a:t>Our claim: inspectable owner-controlled manifests + human semantics + independent visitor gates + replayable failures.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96188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3636E"/>
                </a:solidFill>
                <a:latin typeface="Arial"/>
              </a:defRPr>
            </a:pPr>
            <a:r>
              <a:rPr>
                <a:hlinkClick r:id="rId2"/>
              </a:rPr>
              <a:t>GitHub agent + scanner: current primary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596188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3636E"/>
                </a:solidFill>
                <a:latin typeface="Arial"/>
              </a:defRPr>
            </a:pPr>
            <a:r>
              <a:rPr>
                <a:hlinkClick r:id="rId3"/>
              </a:rPr>
              <a:t>AudioEye: current runtime 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96188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3636E"/>
                </a:solidFill>
                <a:latin typeface="Arial"/>
              </a:defRPr>
            </a:pPr>
            <a:r>
              <a:rPr>
                <a:hlinkClick r:id="rId4"/>
              </a:rPr>
              <a:t>Full cited matrix in repository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36E"/>
                </a:solidFill>
                <a:latin typeface="Arial"/>
              </a:defRPr>
            </a:pPr>
            <a:r>
              <a:t>Sugamya / 04 / Delivery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7242C"/>
                </a:solidFill>
                <a:latin typeface="Arial"/>
              </a:defRPr>
            </a:pPr>
            <a:r>
              <a:t>Owner-installed proxy. Approved manifest. Real visitors.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3636E"/>
                </a:solidFill>
                <a:latin typeface="Arial"/>
              </a:defRPr>
            </a:pPr>
            <a:r>
              <a:t>The repair engine consumes HTTP evidence; the original application remains unchanged.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36E"/>
                </a:solidFill>
                <a:latin typeface="Arial"/>
              </a:defRPr>
            </a:pPr>
            <a:r>
              <a:t>The Screen Readers · HX-P3JQ · AgentOps’26 · IT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40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000"/>
              </a:spcAft>
              <a:defRPr sz="1100" b="0">
                <a:solidFill>
                  <a:srgbClr val="53636E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2971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706624"/>
            <a:ext cx="264261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7242C"/>
                </a:solidFill>
                <a:latin typeface="Arial"/>
              </a:defRPr>
            </a:pPr>
            <a:r>
              <a:t>Separate origin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264408"/>
            <a:ext cx="26426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3636E"/>
                </a:solidFill>
                <a:latin typeface="Arial"/>
              </a:defRPr>
            </a:pPr>
            <a:r>
              <a:t>Owned public HTML</a:t>
            </a:r>
          </a:p>
          <a:p>
            <a:pPr>
              <a:spcAft>
                <a:spcPts val="1000"/>
              </a:spcAft>
              <a:defRPr sz="1600" b="0">
                <a:solidFill>
                  <a:srgbClr val="53636E"/>
                </a:solidFill>
                <a:latin typeface="Arial"/>
              </a:defRPr>
            </a:pPr>
            <a:r>
              <a:t>Existing CSP + form 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514600"/>
            <a:ext cx="2971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2706624"/>
            <a:ext cx="264261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7242C"/>
                </a:solidFill>
                <a:latin typeface="Arial"/>
              </a:defRPr>
            </a:pPr>
            <a:r>
              <a:t>Sugamya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3264408"/>
            <a:ext cx="26426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3636E"/>
                </a:solidFill>
                <a:latin typeface="Arial"/>
              </a:defRPr>
            </a:pPr>
            <a:r>
              <a:t>Exact page fingerprint</a:t>
            </a:r>
          </a:p>
          <a:p>
            <a:pPr>
              <a:spcAft>
                <a:spcPts val="1000"/>
              </a:spcAft>
              <a:defRPr sz="1600" b="0">
                <a:solidFill>
                  <a:srgbClr val="53636E"/>
                </a:solidFill>
                <a:latin typeface="Arial"/>
              </a:defRPr>
            </a:pPr>
            <a:r>
              <a:t>Allowlisted attributes/class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2514600"/>
            <a:ext cx="352044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706624"/>
            <a:ext cx="31912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7242C"/>
                </a:solidFill>
                <a:latin typeface="Arial"/>
              </a:defRPr>
            </a:pPr>
            <a:r>
              <a:t>Ordinary browser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3264408"/>
            <a:ext cx="319125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3636E"/>
                </a:solidFill>
                <a:latin typeface="Arial"/>
              </a:defRPr>
            </a:pPr>
            <a:r>
              <a:t>No extension or operator state</a:t>
            </a:r>
          </a:p>
          <a:p>
            <a:pPr>
              <a:spcAft>
                <a:spcPts val="1000"/>
              </a:spcAft>
              <a:defRPr sz="1600" b="0">
                <a:solidFill>
                  <a:srgbClr val="53636E"/>
                </a:solidFill>
                <a:latin typeface="Arial"/>
              </a:defRPr>
            </a:pPr>
            <a:r>
              <a:t>Version header + completed 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9443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1D5FB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9443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1D5FB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D5FBF"/>
                </a:solidFill>
                <a:latin typeface="Arial"/>
              </a:defRPr>
            </a:pPr>
            <a:r>
              <a:t>Observe → prioritize → semantic review → canary → activate → fresh-browser verify → keep / rollback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3636E"/>
                </a:solidFill>
                <a:latin typeface="Arial"/>
              </a:defRPr>
            </a:pPr>
            <a:r>
              <a:t>Temporary Quick Tunnel proves public HTTPS reach; not production hosting.</a:t>
            </a:r>
          </a:p>
          <a:p>
            <a:pPr>
              <a:spcAft>
                <a:spcPts val="1000"/>
              </a:spcAft>
              <a:defRPr sz="1500" b="0">
                <a:solidFill>
                  <a:srgbClr val="53636E"/>
                </a:solidFill>
                <a:latin typeface="Arial"/>
              </a:defRPr>
            </a:pPr>
            <a:r>
              <a:t>Contrast uses an existing owner-approved utility class; dynamic/private pages are outside the released repair scope.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36E"/>
                </a:solidFill>
                <a:latin typeface="Arial"/>
              </a:defRPr>
            </a:pPr>
            <a:r>
              <a:t>Sugamya / 05 / Criterion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7242C"/>
                </a:solidFill>
                <a:latin typeface="Arial"/>
              </a:defRPr>
            </a:pPr>
            <a:r>
              <a:t>55 criteria inventoried does not mean 55 automated checks.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3636E"/>
                </a:solidFill>
                <a:latin typeface="Arial"/>
              </a:defRPr>
            </a:pPr>
            <a:r>
              <a:t>WCAG 2.2 AA · applicability and test methods are disclosed, not converted into a compliance score.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36E"/>
                </a:solidFill>
                <a:latin typeface="Arial"/>
              </a:defRPr>
            </a:pPr>
            <a:r>
              <a:t>The Screen Readers · HX-P3JQ · AgentOps’26 · IT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40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000"/>
              </a:spcAft>
              <a:defRPr sz="1100" b="0">
                <a:solidFill>
                  <a:srgbClr val="53636E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0">
                <a:solidFill>
                  <a:srgbClr val="1D5FB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42C"/>
                </a:solidFill>
                <a:latin typeface="Arial"/>
              </a:defRPr>
            </a:pPr>
            <a:r>
              <a:t>Selected automated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49039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3636E"/>
                </a:solidFill>
                <a:latin typeface="Arial"/>
              </a:defRPr>
            </a:pPr>
            <a:r>
              <a:t>Rendered contrast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46888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0">
                <a:solidFill>
                  <a:srgbClr val="1D5FB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2461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42C"/>
                </a:solidFill>
                <a:latin typeface="Arial"/>
              </a:defRPr>
            </a:pPr>
            <a:r>
              <a:t>Human-assisted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749039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3636E"/>
                </a:solidFill>
                <a:latin typeface="Arial"/>
              </a:defRPr>
            </a:pPr>
            <a:r>
              <a:t>Alt, labels, name/role/value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46888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0">
                <a:solidFill>
                  <a:srgbClr val="1D5FB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2461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42C"/>
                </a:solidFill>
                <a:latin typeface="Arial"/>
              </a:defRPr>
            </a:pPr>
            <a:r>
              <a:t>Manual remainder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3749039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3636E"/>
                </a:solidFill>
                <a:latin typeface="Arial"/>
              </a:defRPr>
            </a:pPr>
            <a:r>
              <a:t>Full keyboard/focus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46888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0">
                <a:solidFill>
                  <a:srgbClr val="1D5FB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2461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42C"/>
                </a:solidFill>
                <a:latin typeface="Arial"/>
              </a:defRPr>
            </a:pPr>
            <a:r>
              <a:t>Inapplicable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749039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3636E"/>
                </a:solidFill>
                <a:latin typeface="Arial"/>
              </a:defRPr>
            </a:pPr>
            <a:r>
              <a:t>No media in this static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246888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0">
                <a:solidFill>
                  <a:srgbClr val="1D5FBF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32461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42C"/>
                </a:solidFill>
                <a:latin typeface="Arial"/>
              </a:defRPr>
            </a:pPr>
            <a:r>
              <a:t>Unresolved / untested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3749039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3636E"/>
                </a:solidFill>
                <a:latin typeface="Arial"/>
              </a:defRPr>
            </a:pPr>
            <a:r>
              <a:t>No criterion-wide 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10835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7242C"/>
                </a:solidFill>
                <a:latin typeface="Arial"/>
              </a:defRPr>
            </a:pPr>
            <a:r>
              <a:t>Priority favors the blocked application task—not easy-to-count rules.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504688"/>
            <a:ext cx="10835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3636E"/>
                </a:solidFill>
                <a:latin typeface="Arial"/>
              </a:defRPr>
            </a:pPr>
            <a:r>
              <a:t>Severity × confidence × evaluated-task reach ÷ estimated review effort. Reach and effort are disclosed assumptions.</a:t>
            </a:r>
          </a:p>
          <a:p>
            <a:pPr>
              <a:spcAft>
                <a:spcPts val="1000"/>
              </a:spcAft>
              <a:defRPr sz="1400" b="0">
                <a:solidFill>
                  <a:srgbClr val="53636E"/>
                </a:solidFill>
                <a:latin typeface="Arial"/>
              </a:defRPr>
            </a:pPr>
            <a:r>
              <a:t>No universal “20 manual criteria” partition was verified. No whole-criterion or site conformance claim.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71616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3636E"/>
                </a:solidFill>
                <a:latin typeface="Arial"/>
              </a:defRPr>
            </a:pPr>
            <a:r>
              <a:rPr>
                <a:hlinkClick r:id="rId2"/>
              </a:rPr>
              <a:t>W3C WCAG 2.2 and WAI evaluation-tool limits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36E"/>
                </a:solidFill>
                <a:latin typeface="Arial"/>
              </a:defRPr>
            </a:pPr>
            <a:r>
              <a:t>Sugamya / 06 /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7242C"/>
                </a:solidFill>
                <a:latin typeface="Arial"/>
              </a:defRPr>
            </a:pPr>
            <a:r>
              <a:t>The model drafts text. A human decides meaning.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3636E"/>
                </a:solidFill>
                <a:latin typeface="Arial"/>
              </a:defRPr>
            </a:pPr>
            <a:r>
              <a:t>One real Groq request used only redacted nearby text; no image or screenshot went to a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36E"/>
                </a:solidFill>
                <a:latin typeface="Arial"/>
              </a:defRPr>
            </a:pPr>
            <a:r>
              <a:t>The Screen Readers · HX-P3JQ · AgentOps’26 · IT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40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000"/>
              </a:spcAft>
              <a:defRPr sz="1100" b="0">
                <a:solidFill>
                  <a:srgbClr val="53636E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D5FBF"/>
                </a:solidFill>
                <a:latin typeface="Arial"/>
              </a:defRPr>
            </a:pPr>
            <a:r>
              <a:t>Actual AI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07792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17242C"/>
                </a:solidFill>
                <a:latin typeface="Arial"/>
              </a:defRPr>
            </a:pPr>
            <a:r>
              <a:t>“Diagram showing route from entrance to service desk.”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078224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3636E"/>
                </a:solidFill>
                <a:latin typeface="Arial"/>
              </a:defRPr>
            </a:pPr>
            <a:r>
              <a:t>Uncertainty: “Based on provided context; no visual details confirmed.”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2286000"/>
            <a:ext cx="521208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46888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7242C"/>
                </a:solidFill>
                <a:latin typeface="Arial"/>
              </a:defRPr>
            </a:pPr>
            <a:r>
              <a:t>Human edited and explicitly approved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044952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7242C"/>
                </a:solidFill>
                <a:latin typeface="Arial"/>
              </a:defRPr>
            </a:pPr>
            <a:r>
              <a:t>“From Entrance, follow the path right, turn upward, then right to Service desk.”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43484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3636E"/>
                </a:solidFill>
                <a:latin typeface="Arial"/>
              </a:defRPr>
            </a:pPr>
            <a:r>
              <a:t>All 3 semantic operations bind approval to the exact manifest; edits clear prior approvals.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5321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3636E"/>
                </a:solidFill>
                <a:latin typeface="Arial"/>
              </a:defRPr>
            </a:pPr>
            <a:r>
              <a:t>441 tokens · 380 ms observed · billed cost unverified. Provider retention exceptions may apply; ZDR not verified.</a:t>
            </a:r>
          </a:p>
          <a:p>
            <a:pPr>
              <a:spcAft>
                <a:spcPts val="1000"/>
              </a:spcAft>
              <a:defRPr sz="1400" b="0">
                <a:solidFill>
                  <a:srgbClr val="53636E"/>
                </a:solidFill>
                <a:latin typeface="Arial"/>
              </a:defRPr>
            </a:pPr>
            <a:r>
              <a:t>Signed-in routes denied; no screenshot, image, full HTML, form value or credential in the model payload.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36E"/>
                </a:solidFill>
                <a:latin typeface="Arial"/>
              </a:defRPr>
            </a:pPr>
            <a:r>
              <a:t>Sugamya / 07 / Fresh-browser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7242C"/>
                </a:solidFill>
                <a:latin typeface="Arial"/>
              </a:defRPr>
            </a:pPr>
            <a:r>
              <a:t>The improved task reaches a public, clean browser.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3636E"/>
                </a:solidFill>
                <a:latin typeface="Arial"/>
              </a:defRPr>
            </a:pPr>
            <a:r>
              <a:t>Recorded evidence: actual HTTPS proxy response, accessible-name snapshot, keyboard submission and unchanged origin.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36E"/>
                </a:solidFill>
                <a:latin typeface="Arial"/>
              </a:defRPr>
            </a:pPr>
            <a:r>
              <a:t>The Screen Readers · HX-P3JQ · AgentOps’26 · IT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40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000"/>
              </a:spcAft>
              <a:defRPr sz="1100" b="0">
                <a:solidFill>
                  <a:srgbClr val="53636E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0">
                <a:solidFill>
                  <a:srgbClr val="1D5FBF"/>
                </a:solidFill>
                <a:latin typeface="Arial"/>
              </a:defRPr>
            </a:pPr>
            <a:r>
              <a:t>4 →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546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42C"/>
                </a:solidFill>
                <a:latin typeface="Arial"/>
              </a:defRPr>
            </a:pPr>
            <a:r>
              <a:t>Seeded axe instances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5760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3636E"/>
                </a:solidFill>
                <a:latin typeface="Arial"/>
              </a:defRPr>
            </a:pPr>
            <a:r>
              <a:t>1 page, 4 instances; no conformance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434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0">
                <a:solidFill>
                  <a:srgbClr val="1D5FBF"/>
                </a:solidFill>
                <a:latin typeface="Arial"/>
              </a:defRPr>
            </a:pPr>
            <a:r>
              <a:t>0/3 → 3/3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1206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42C"/>
                </a:solidFill>
                <a:latin typeface="Arial"/>
              </a:defRPr>
            </a:pPr>
            <a:r>
              <a:t>Same automated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62356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3636E"/>
                </a:solidFill>
                <a:latin typeface="Arial"/>
              </a:defRPr>
            </a:pPr>
            <a:r>
              <a:t>Fresh context per trial; not a screen-reader user study</a:t>
            </a:r>
          </a:p>
        </p:txBody>
      </p:sp>
      <p:pic>
        <p:nvPicPr>
          <p:cNvPr id="14" name="Picture 13" descr="public-visitor-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221992"/>
            <a:ext cx="7589520" cy="39502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3636E"/>
                </a:solidFill>
                <a:latin typeface="Arial"/>
              </a:defRPr>
            </a:pPr>
            <a:r>
              <a:rPr>
                <a:hlinkClick r:id="rId3"/>
              </a:rPr>
              <a:t>Temporary public proof URL (may expire) · full response/task evidence in repository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36E"/>
                </a:solidFill>
                <a:latin typeface="Arial"/>
              </a:defRPr>
            </a:pPr>
            <a:r>
              <a:t>Sugamya / 08 / Failure and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7242C"/>
                </a:solidFill>
                <a:latin typeface="Arial"/>
              </a:defRPr>
            </a:pPr>
            <a:r>
              <a:t>Passing a scan is not permission to promote.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3636E"/>
                </a:solidFill>
                <a:latin typeface="Arial"/>
              </a:defRPr>
            </a:pPr>
            <a:r>
              <a:t>A deliberately wrong approved test label passed syntax/axe checks—but failed the independent task gate.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36E"/>
                </a:solidFill>
                <a:latin typeface="Arial"/>
              </a:defRPr>
            </a:pPr>
            <a:r>
              <a:t>The Screen Readers · HX-P3JQ · AgentOps’26 · IT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40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000"/>
              </a:spcAft>
              <a:defRPr sz="1100" b="0">
                <a:solidFill>
                  <a:srgbClr val="53636E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9D2731"/>
                </a:solidFill>
                <a:latin typeface="Arial"/>
              </a:defRPr>
            </a:pPr>
            <a:r>
              <a:t>Controlled negative canary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846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7242C"/>
                </a:solidFill>
                <a:latin typeface="Arial"/>
              </a:defRPr>
            </a:pPr>
            <a:r>
              <a:t>“Transfer funds” instead of</a:t>
            </a:r>
          </a:p>
          <a:p>
            <a:pPr>
              <a:spcAft>
                <a:spcPts val="1000"/>
              </a:spcAft>
              <a:defRPr sz="2300" b="0">
                <a:solidFill>
                  <a:srgbClr val="17242C"/>
                </a:solidFill>
                <a:latin typeface="Arial"/>
              </a:defRPr>
            </a:pPr>
            <a:r>
              <a:t>“Submit application” → withheld.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51960"/>
            <a:ext cx="48463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53636E"/>
                </a:solidFill>
                <a:latin typeface="Arial"/>
              </a:defRPr>
            </a:pPr>
            <a:r>
              <a:t>Separate stale-origin test: fingerprint mismatch → original response → failed independent check → actual active-pointer rollback.</a:t>
            </a:r>
          </a:p>
        </p:txBody>
      </p:sp>
      <p:pic>
        <p:nvPicPr>
          <p:cNvPr id="11" name="Picture 10" descr="negative-canary-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286000"/>
            <a:ext cx="5669280" cy="3611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78815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3636E"/>
                </a:solidFill>
                <a:latin typeface="Arial"/>
              </a:defRPr>
            </a:pPr>
            <a:r>
              <a:t>30 unit tests · 21 E2E checks · 0 known dependency advisories · 34 static warnings retained and reviewed.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36E"/>
                </a:solidFill>
                <a:latin typeface="Arial"/>
              </a:defRPr>
            </a:pPr>
            <a:r>
              <a:t>Sugamya / 09 / AI to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7242C"/>
                </a:solidFill>
                <a:latin typeface="Arial"/>
              </a:defRPr>
            </a:pPr>
            <a:r>
              <a:t>Measure the workflow. Label the forecast.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3636E"/>
                </a:solidFill>
                <a:latin typeface="Arial"/>
              </a:defRPr>
            </a:pPr>
            <a:r>
              <a:t>Observed execution evidence and assumed business savings are kept separate.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36E"/>
                </a:solidFill>
                <a:latin typeface="Arial"/>
              </a:defRPr>
            </a:pPr>
            <a:r>
              <a:t>The Screen Readers · HX-P3JQ · AgentOps’26 · IT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40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000"/>
              </a:spcAft>
              <a:defRPr sz="1100" b="0">
                <a:solidFill>
                  <a:srgbClr val="53636E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0">
                <a:solidFill>
                  <a:srgbClr val="1D5FBF"/>
                </a:solidFill>
                <a:latin typeface="Arial"/>
              </a:defRPr>
            </a:pPr>
            <a:r>
              <a:t>4.78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42C"/>
                </a:solidFill>
                <a:latin typeface="Arial"/>
              </a:defRPr>
            </a:pPr>
            <a:r>
              <a:t>Median added local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0332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3636E"/>
                </a:solidFill>
                <a:latin typeface="Arial"/>
              </a:defRPr>
            </a:pPr>
            <a:r>
              <a:t>30 paired warm requests; proxy + parser + local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2316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0">
                <a:solidFill>
                  <a:srgbClr val="1D5FBF"/>
                </a:solidFill>
                <a:latin typeface="Arial"/>
              </a:defRPr>
            </a:pPr>
            <a:r>
              <a:t>₹3,000 / 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2004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42C"/>
                </a:solidFill>
                <a:latin typeface="Arial"/>
              </a:defRPr>
            </a:pPr>
            <a:r>
              <a:t>Illustrative effort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70332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3636E"/>
                </a:solidFill>
                <a:latin typeface="Arial"/>
              </a:defRPr>
            </a:pPr>
            <a:r>
              <a:t>10 sites × (45−15 min) × ₹600/hour; assumptions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42316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800" b="0">
                <a:solidFill>
                  <a:srgbClr val="1D5FBF"/>
                </a:solidFill>
                <a:latin typeface="Arial"/>
              </a:defRPr>
            </a:pPr>
            <a:r>
              <a:t>₹300 / ₹1,500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2004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42C"/>
                </a:solidFill>
                <a:latin typeface="Arial"/>
              </a:defRPr>
            </a:pPr>
            <a:r>
              <a:t>Sensitivity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70332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3636E"/>
                </a:solidFill>
                <a:latin typeface="Arial"/>
              </a:defRPr>
            </a:pPr>
            <a:r>
              <a:t>1 site / doubled review burden; hosting and audits excluded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800600"/>
            <a:ext cx="1097280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74336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7242C"/>
                </a:solidFill>
                <a:latin typeface="Arial"/>
              </a:defRPr>
            </a:pPr>
            <a:r>
              <a:t>Human review/setup time was not timed. No measured saving or customer ROI is claimed.</a:t>
            </a:r>
          </a:p>
          <a:p>
            <a:pPr>
              <a:spcAft>
                <a:spcPts val="1000"/>
              </a:spcAft>
              <a:defRPr sz="1600" b="0">
                <a:solidFill>
                  <a:srgbClr val="17242C"/>
                </a:solidFill>
                <a:latin typeface="Arial"/>
              </a:defRPr>
            </a:pPr>
            <a:r>
              <a:t>Second installed target + separate origin/gateway/audit store passed the same 21 checks.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2531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53636E"/>
                </a:solidFill>
                <a:latin typeface="Arial"/>
              </a:defRPr>
            </a:pPr>
            <a:r>
              <a:t>Main model call: 441 tokens; post-hoc public-list-price estimate ≈ US$0.0000668, not an invoice.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36E"/>
                </a:solidFill>
                <a:latin typeface="Arial"/>
              </a:defRPr>
            </a:pPr>
            <a:r>
              <a:t>Sugamya / 10 / Reusable CGI delivery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7242C"/>
                </a:solidFill>
                <a:latin typeface="Arial"/>
              </a:defRPr>
            </a:pPr>
            <a:r>
              <a:t>A narrow accelerator judges can inspect and rerun.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3636E"/>
                </a:solidFill>
                <a:latin typeface="Arial"/>
              </a:defRPr>
            </a:pPr>
            <a:r>
              <a:t>One repeatable contract: owner authority + approved change + visitor proof + operational reversal.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36E"/>
                </a:solidFill>
                <a:latin typeface="Arial"/>
              </a:defRPr>
            </a:pPr>
            <a:r>
              <a:t>The Screen Readers · HX-P3JQ · AgentOps’26 · IT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40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000"/>
              </a:spcAft>
              <a:defRPr sz="1100" b="0">
                <a:solidFill>
                  <a:srgbClr val="53636E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D5FBF"/>
                </a:solidFill>
                <a:latin typeface="Arial"/>
              </a:defRPr>
            </a:pPr>
            <a:r>
              <a:t>Reuse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28600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42C"/>
                </a:solidFill>
                <a:latin typeface="Arial"/>
              </a:defRPr>
            </a:pPr>
            <a:r>
              <a:t>Configuration, strict contracts and a second independent installation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5292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D5FBF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852928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42C"/>
                </a:solidFill>
                <a:latin typeface="Arial"/>
              </a:defRPr>
            </a:pPr>
            <a:r>
              <a:t>Explicit semantic consent/approval, minimal evidence, roles and trace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1985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D5FBF"/>
                </a:solidFill>
                <a:latin typeface="Arial"/>
              </a:defRPr>
            </a:pPr>
            <a:r>
              <a:t>Business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419856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42C"/>
                </a:solidFill>
                <a:latin typeface="Arial"/>
              </a:defRPr>
            </a:pPr>
            <a:r>
              <a:t>Task outcomes and measured latency; forecast-only effort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86783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D5FBF"/>
                </a:solidFill>
                <a:latin typeface="Arial"/>
              </a:defRPr>
            </a:pPr>
            <a:r>
              <a:t>MVP readiness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986783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42C"/>
                </a:solidFill>
                <a:latin typeface="Arial"/>
              </a:defRPr>
            </a:pPr>
            <a:r>
              <a:t>Actual public route, tested controls, MP4, reproducible 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5371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D5FBF"/>
                </a:solidFill>
                <a:latin typeface="Arial"/>
              </a:defRPr>
            </a:pPr>
            <a:r>
              <a:t>Innovation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553712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42C"/>
                </a:solidFill>
                <a:latin typeface="Arial"/>
              </a:defRPr>
            </a:pPr>
            <a:r>
              <a:t>The inspectable delivery/verification combination—not AI or overlays alone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63270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3636E"/>
                </a:solidFill>
                <a:latin typeface="Arial"/>
              </a:defRPr>
            </a:pPr>
            <a:r>
              <a:rPr>
                <a:hlinkClick r:id="rId2"/>
              </a:rPr>
              <a:t>https://github.com/shivanshjain456/Sugamya-TheScreenReaders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05332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3636E"/>
                </a:solidFill>
                <a:latin typeface="Arial"/>
              </a:defRPr>
            </a:pPr>
            <a:r>
              <a:t>Limits: fixture only · static public HTML · existing contrast class · no tenant isolation/SSO · temporary tunnel · no conformance claim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36E"/>
                </a:solidFill>
                <a:latin typeface="Arial"/>
              </a:defRPr>
            </a:pPr>
            <a:r>
              <a:t>Sugamya / Appendix / Tough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7242C"/>
                </a:solidFill>
                <a:latin typeface="Arial"/>
              </a:defRPr>
            </a:pPr>
            <a:r>
              <a:t>What we will not claim.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3636E"/>
                </a:solidFill>
                <a:latin typeface="Arial"/>
              </a:defRPr>
            </a:pPr>
            <a:r>
              <a:t>Five-minute Q&amp;A preparation; not part of the five-minute slide narrative.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36E"/>
                </a:solidFill>
                <a:latin typeface="Arial"/>
              </a:defRPr>
            </a:pPr>
            <a:r>
              <a:t>The Screen Readers · HX-P3JQ · AgentOps’26 · IT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40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000"/>
              </a:spcAft>
              <a:defRPr sz="1100" b="0">
                <a:solidFill>
                  <a:srgbClr val="53636E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D5FBF"/>
                </a:solidFill>
                <a:latin typeface="Arial"/>
              </a:defRPr>
            </a:pPr>
            <a:r>
              <a:t>“Is this source repair?”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148840"/>
            <a:ext cx="74066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7242C"/>
                </a:solidFill>
                <a:latin typeface="Arial"/>
              </a:defRPr>
            </a:pPr>
            <a:r>
              <a:t>No. It transforms eligible HTTP responses. Origin source stays unchanged; removing the route removes repairs.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D5FBF"/>
                </a:solidFill>
                <a:latin typeface="Arial"/>
              </a:defRPr>
            </a:pPr>
            <a:r>
              <a:t>“Why not GitHub?”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926080"/>
            <a:ext cx="74066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7242C"/>
                </a:solidFill>
                <a:latin typeface="Arial"/>
              </a:defRPr>
            </a:pPr>
            <a:r>
              <a:t>Use GitHub when the repo-owning team can merge and deploy. Our route addresses a different permission bottleneck; no superiority claim.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03320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D5FBF"/>
                </a:solidFill>
                <a:latin typeface="Arial"/>
              </a:defRPr>
            </a:pPr>
            <a:r>
              <a:t>“Can it understand every image?”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3703320"/>
            <a:ext cx="74066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7242C"/>
                </a:solidFill>
                <a:latin typeface="Arial"/>
              </a:defRPr>
            </a:pPr>
            <a:r>
              <a:t>No image is sent in our model path. Human review supplies visual meaning; insufficient context stays unresolved.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80560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D5FBF"/>
                </a:solidFill>
                <a:latin typeface="Arial"/>
              </a:defRPr>
            </a:pPr>
            <a:r>
              <a:t>“What about all 55 criteria?”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4480560"/>
            <a:ext cx="74066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7242C"/>
                </a:solidFill>
                <a:latin typeface="Arial"/>
              </a:defRPr>
            </a:pPr>
            <a:r>
              <a:t>A method-disclosing inventory is not coverage. 43 untested and 3 fuller-manual criteria remain open.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257800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D5FBF"/>
                </a:solidFill>
                <a:latin typeface="Arial"/>
              </a:defRPr>
            </a:pPr>
            <a:r>
              <a:t>“Production-ready for any site?”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5257800"/>
            <a:ext cx="74066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7242C"/>
                </a:solidFill>
                <a:latin typeface="Arial"/>
              </a:defRPr>
            </a:pPr>
            <a:r>
              <a:t>No. Owned static fixture release; stronger isolation, client routing, new task policies and manual audits remain prerequisites.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36E"/>
                </a:solidFill>
                <a:latin typeface="Arial"/>
              </a:defRPr>
            </a:pPr>
            <a:r>
              <a:t>Sugamya / Appendix / Evidence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7242C"/>
                </a:solidFill>
                <a:latin typeface="Arial"/>
              </a:defRPr>
            </a:pPr>
            <a:r>
              <a:t>Evidence, commands and fallback.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109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3636E"/>
                </a:solidFill>
                <a:latin typeface="Arial"/>
              </a:defRPr>
            </a:pPr>
            <a:r>
              <a:t>Use the repository artifacts to replay observations; use actual live controls only when the environment is running.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3636E"/>
                </a:solidFill>
                <a:latin typeface="Arial"/>
              </a:defRPr>
            </a:pPr>
            <a:r>
              <a:t>The Screen Readers · HX-P3JQ · AgentOps’26 · IT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640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000"/>
              </a:spcAft>
              <a:defRPr sz="1100" b="0">
                <a:solidFill>
                  <a:srgbClr val="53636E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7242C"/>
                </a:solidFill>
                <a:latin typeface="Arial"/>
              </a:defRPr>
            </a:pPr>
            <a:r>
              <a:t>evidence/public-deployment-proof.json — ordinary HTTPS browser, version and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6148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7242C"/>
                </a:solidFill>
                <a:latin typeface="Arial"/>
              </a:defRPr>
            </a:pPr>
            <a:r>
              <a:t>evidence/human-approved-deployment.json — explicit project-owner semantic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36976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7242C"/>
                </a:solidFill>
                <a:latin typeface="Arial"/>
              </a:defRPr>
            </a:pPr>
            <a:r>
              <a:t>evidence/reuse/e2e-results.json — 21-case independent reuse/failure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12464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7242C"/>
                </a:solidFill>
                <a:latin typeface="Arial"/>
              </a:defRPr>
            </a:pPr>
            <a:r>
              <a:t>evidence/model-live-result.json — actual consented request/output and held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8795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7242C"/>
                </a:solidFill>
                <a:latin typeface="Arial"/>
              </a:defRPr>
            </a:pPr>
            <a:r>
              <a:t>evidence/measurements.json — denominators, 30 latency pairs and 3+3 task trials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634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7242C"/>
                </a:solidFill>
                <a:latin typeface="Arial"/>
              </a:defRPr>
            </a:pPr>
            <a:r>
              <a:t>npm test · npm run test:e2e · npm run test:ui · npm run replay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13892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7242C"/>
                </a:solidFill>
                <a:latin typeface="Arial"/>
              </a:defRPr>
            </a:pPr>
            <a:r>
              <a:t>artifacts/Sugamya-demo.mp4 — actual 79.6-second captioned recording, not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925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53636E"/>
                </a:solidFill>
                <a:latin typeface="Arial"/>
              </a:defRPr>
            </a:pPr>
            <a:r>
              <a:rPr>
                <a:hlinkClick r:id="rId2"/>
              </a:rPr>
              <a:t>Setup / architecture / security / coverage / competitor primary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